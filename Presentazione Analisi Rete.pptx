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8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</p:sldIdLst>
  <p:sldSz cx="9144000" cy="5143500" type="screen16x9"/>
  <p:notesSz cx="6858000" cy="9144000"/>
  <p:embeddedFontLst>
    <p:embeddedFont>
      <p:font typeface="Maven Pro" panose="020B0604020202020204" charset="0"/>
      <p:regular r:id="rId19"/>
      <p:bold r:id="rId20"/>
    </p:embeddedFont>
    <p:embeddedFont>
      <p:font typeface="Nunito" panose="020F0502020204030204" pitchFamily="2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8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b8f143d69e_0_2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b8f143d69e_0_2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b8f143d69e_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3b8f143d69e_3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b8f143d69e_3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3b8f143d69e_3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b8f143d69e_3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3b8f143d69e_3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b8f143d69e_3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3b8f143d69e_3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b8f9672b8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3b8f9672b8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b8f143d69e_3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3b8f143d69e_3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b9005f36c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3b9005f36c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b8f9672b8f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3b8f9672b8f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b8f9672b8f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3b8f9672b8f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b8f9672b8f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3b8f9672b8f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b8f9672b8f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" name="Google Shape;344;g3b8f9672b8f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b8f9672b8f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" name="Google Shape;349;g3b8f9672b8f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3b8f9672b8f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4" name="Google Shape;354;g3b8f9672b8f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b8f9672b8f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" name="Google Shape;360;g3b8f9672b8f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b9005f36c1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g3b9005f36c1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82" name="Google Shape;82;p3"/>
          <p:cNvSpPr txBox="1">
            <a:spLocks noGrp="1"/>
          </p:cNvSpPr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3" name="Google Shape;83;p3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8" name="Google Shape;88;p4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4"/>
          <p:cNvSpPr txBox="1">
            <a:spLocks noGrp="1"/>
          </p:cNvSpPr>
          <p:nvPr>
            <p:ph type="body" idx="1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90" name="Google Shape;90;p4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5" name="Google Shape;95;p5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5"/>
          <p:cNvSpPr txBox="1">
            <a:spLocks noGrp="1"/>
          </p:cNvSpPr>
          <p:nvPr>
            <p:ph type="body" idx="1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97" name="Google Shape;97;p5"/>
          <p:cNvSpPr txBox="1">
            <a:spLocks noGrp="1"/>
          </p:cNvSpPr>
          <p:nvPr>
            <p:ph type="body" idx="2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98" name="Google Shape;98;p5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3" name="Google Shape;103;p6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6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9" name="Google Shape;109;p7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7"/>
          <p:cNvSpPr txBox="1">
            <a:spLocks noGrp="1"/>
          </p:cNvSpPr>
          <p:nvPr>
            <p:ph type="body" idx="1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11" name="Google Shape;111;p7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dk1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name="adj1" fmla="val 19376841"/>
                  <a:gd name="adj2" fmla="val 12313574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name="adj1" fmla="val 5699893"/>
                  <a:gd name="adj2" fmla="val 12313574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name="adj1" fmla="val 5699893"/>
                  <a:gd name="adj2" fmla="val 12313574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25" name="Google Shape;125;p8"/>
          <p:cNvSpPr txBox="1">
            <a:spLocks noGrp="1"/>
          </p:cNvSpPr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26" name="Google Shape;126;p8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1" name="Google Shape;131;p9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9"/>
          <p:cNvSpPr txBox="1">
            <a:spLocks noGrp="1"/>
          </p:cNvSpPr>
          <p:nvPr>
            <p:ph type="subTitle" idx="1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33" name="Google Shape;133;p9"/>
          <p:cNvSpPr txBox="1">
            <a:spLocks noGrp="1"/>
          </p:cNvSpPr>
          <p:nvPr>
            <p:ph type="body" idx="2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34" name="Google Shape;134;p9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9" name="Google Shape;139;p10"/>
          <p:cNvSpPr txBox="1">
            <a:spLocks noGrp="1"/>
          </p:cNvSpPr>
          <p:nvPr>
            <p:ph type="body" idx="1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140" name="Google Shape;140;p10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accent3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68" name="Google Shape;268;p11"/>
          <p:cNvSpPr txBox="1">
            <a:spLocks noGrp="1"/>
          </p:cNvSpPr>
          <p:nvPr>
            <p:ph type="title" hasCustomPrompt="1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>
            <a:spLocks noGrp="1"/>
          </p:cNvSpPr>
          <p:nvPr>
            <p:ph type="body" idx="1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70" name="Google Shape;270;p11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omentum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itcoin-otc.com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4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Bitcoin OTC</a:t>
            </a:r>
            <a:endParaRPr/>
          </a:p>
        </p:txBody>
      </p:sp>
      <p:sp>
        <p:nvSpPr>
          <p:cNvPr id="284" name="Google Shape;284;p14"/>
          <p:cNvSpPr txBox="1">
            <a:spLocks noGrp="1"/>
          </p:cNvSpPr>
          <p:nvPr>
            <p:ph type="body" idx="1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L’obiettivo di questo progetto è analizzare uno snapshot delle transazioni riguardante la compravendita di Bitcoin della piattaforma </a:t>
            </a:r>
            <a:r>
              <a:rPr lang="it" u="sng">
                <a:solidFill>
                  <a:schemeClr val="hlink"/>
                </a:solidFill>
                <a:hlinkClick r:id="rId3"/>
              </a:rPr>
              <a:t>Bitcoin OTC </a:t>
            </a:r>
            <a:r>
              <a:rPr lang="it"/>
              <a:t>. </a:t>
            </a:r>
            <a:endParaRPr/>
          </a:p>
          <a:p>
            <a:pPr marL="0" lvl="0" indent="0" algn="just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it">
                <a:solidFill>
                  <a:srgbClr val="333333"/>
                </a:solidFill>
                <a:highlight>
                  <a:srgbClr val="FFFFFF"/>
                </a:highlight>
              </a:rPr>
              <a:t>Bitcoin OTC (Over-the-Counter) è una piattaforma di scambio peer-to-peer che facilita transazioni dirette tra acquirenti e venditori. A differenza dei CEX, i quali agiscono come intermediari e mantengono registri completi degli utenti, le piattaforme OTC mirano ad un approccio più decentralizzato.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5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Domande di ricerca</a:t>
            </a:r>
            <a:endParaRPr/>
          </a:p>
        </p:txBody>
      </p:sp>
      <p:sp>
        <p:nvSpPr>
          <p:cNvPr id="290" name="Google Shape;290;p15"/>
          <p:cNvSpPr txBox="1">
            <a:spLocks noGrp="1"/>
          </p:cNvSpPr>
          <p:nvPr>
            <p:ph type="body" idx="1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Per l’analisi sono state stabilite le seguenti domande:</a:t>
            </a:r>
            <a:endParaRPr/>
          </a:p>
          <a:p>
            <a:pPr marL="457200" lvl="0" indent="-307975" algn="l" rtl="0">
              <a:spcBef>
                <a:spcPts val="1200"/>
              </a:spcBef>
              <a:spcAft>
                <a:spcPts val="0"/>
              </a:spcAft>
              <a:buClr>
                <a:srgbClr val="333333"/>
              </a:buClr>
              <a:buSzPts val="1250"/>
              <a:buFont typeface="Arial"/>
              <a:buAutoNum type="arabicPeriod"/>
            </a:pPr>
            <a:r>
              <a:rPr lang="it" sz="125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Chi sono gli utenti più influenti e affidabili nella rete? Inoltre, qual è la distribuzione della reputazione?</a:t>
            </a:r>
            <a:endParaRPr sz="1250">
              <a:solidFill>
                <a:srgbClr val="333333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457200" lvl="0" indent="-307975" algn="l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50"/>
              <a:buFont typeface="Arial"/>
              <a:buAutoNum type="arabicPeriod"/>
            </a:pPr>
            <a:r>
              <a:rPr lang="it" sz="125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Questa rete con segno rispetta le proprietà di bilanciamento?</a:t>
            </a:r>
            <a:endParaRPr sz="1250">
              <a:solidFill>
                <a:srgbClr val="333333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457200" lvl="0" indent="-307975" algn="l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50"/>
              <a:buFont typeface="Arial"/>
              <a:buAutoNum type="arabicPeriod"/>
            </a:pPr>
            <a:r>
              <a:rPr lang="it" sz="125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La topologia di questa rete rispetta la struttura di modelli teorici? La sua topologia ha qualche risvolto dal punto di vista della resilienza?</a:t>
            </a:r>
            <a:endParaRPr sz="1250">
              <a:solidFill>
                <a:srgbClr val="333333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8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6"/>
          <p:cNvSpPr txBox="1">
            <a:spLocks noGrp="1"/>
          </p:cNvSpPr>
          <p:nvPr>
            <p:ph type="title" idx="4294967295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Struttura della rete</a:t>
            </a:r>
            <a:endParaRPr/>
          </a:p>
        </p:txBody>
      </p:sp>
      <p:pic>
        <p:nvPicPr>
          <p:cNvPr id="296" name="Google Shape;29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1923125"/>
            <a:ext cx="4418625" cy="2556824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16"/>
          <p:cNvSpPr txBox="1"/>
          <p:nvPr/>
        </p:nvSpPr>
        <p:spPr>
          <a:xfrm>
            <a:off x="267425" y="2141725"/>
            <a:ext cx="4304700" cy="11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Questo grafico rappresenta la struttura della rete.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Il layout circolare è stato scelto per rappresentare al meglio le transazioni.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Il colore dell’arco determina la natura del giudizio, e lo spessore evidenzia il valore della votazione.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7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Analisi locale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766" b="0"/>
              <a:t>Parte 1</a:t>
            </a:r>
            <a:endParaRPr sz="1766" b="0"/>
          </a:p>
        </p:txBody>
      </p:sp>
      <p:sp>
        <p:nvSpPr>
          <p:cNvPr id="303" name="Google Shape;303;p17"/>
          <p:cNvSpPr txBox="1">
            <a:spLocks noGrp="1"/>
          </p:cNvSpPr>
          <p:nvPr>
            <p:ph type="body" idx="1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dirty="0"/>
              <a:t>Nella prima parte dell’analisi sono state analizzate le proprietà locali della rete, rispondendo così alle prime due domande di ricerca.</a:t>
            </a:r>
            <a:endParaRPr dirty="0"/>
          </a:p>
          <a:p>
            <a:pPr marL="0" lvl="0" indent="0" algn="just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it" dirty="0"/>
              <a:t>Per rispondere alla prima domanda è stata analizzata la distribuzione del livello di fiducia, individuando il livello medio di essa e determinando quale fosse il comportamento standard. In secondo luogo è stato effettuato uno studio sulla centralità comparando due diversi tipi di misura: </a:t>
            </a:r>
            <a:r>
              <a:rPr lang="it" b="1" dirty="0"/>
              <a:t>PageRank</a:t>
            </a:r>
            <a:r>
              <a:rPr lang="it" dirty="0"/>
              <a:t> e </a:t>
            </a:r>
            <a:r>
              <a:rPr lang="it" b="1" dirty="0"/>
              <a:t>Katz</a:t>
            </a:r>
            <a:r>
              <a:rPr lang="it" dirty="0"/>
              <a:t>.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" name="Google Shape;308;p18" title="Fiducia_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6500" y="152400"/>
            <a:ext cx="7840486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3" name="Google Shape;313;p19" title="Fiducia_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8550" y="152400"/>
            <a:ext cx="7840486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0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Confronto misure di centralità</a:t>
            </a:r>
            <a:endParaRPr/>
          </a:p>
        </p:txBody>
      </p:sp>
      <p:sp>
        <p:nvSpPr>
          <p:cNvPr id="319" name="Google Shape;319;p20"/>
          <p:cNvSpPr txBox="1">
            <a:spLocks noGrp="1"/>
          </p:cNvSpPr>
          <p:nvPr>
            <p:ph type="body" idx="1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In questo contesto di studio, essendo che la rete è una rete diretta con segno, bisogna essere particolarmente attenti alle misure di centralità utilizzate. Sono state scelte </a:t>
            </a:r>
            <a:r>
              <a:rPr lang="it" b="1"/>
              <a:t>PageRank</a:t>
            </a:r>
            <a:r>
              <a:rPr lang="it"/>
              <a:t> e </a:t>
            </a:r>
            <a:r>
              <a:rPr lang="it" b="1"/>
              <a:t>Katz.</a:t>
            </a:r>
            <a:endParaRPr b="1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it"/>
              <a:t>La prima identifica gli utenti che ricevono fiducia da utenti già influenti, un nodo che  ha valore PageRank alto significa che ha ricevuto un endorsement dell’intera rete. Katz invece considera tutti i possibili cammini di fiducia che raggiungono un nodo e privilegia i più brevi.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it"/>
              <a:t>Nella slide successiva verranno presentati i risultati.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4" name="Google Shape;324;p21" title="centralità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1763" y="152400"/>
            <a:ext cx="7840486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22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Analisi locale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766" b="0"/>
              <a:t>Parte 2</a:t>
            </a:r>
            <a:endParaRPr/>
          </a:p>
        </p:txBody>
      </p:sp>
      <p:sp>
        <p:nvSpPr>
          <p:cNvPr id="330" name="Google Shape;330;p22"/>
          <p:cNvSpPr txBox="1">
            <a:spLocks noGrp="1"/>
          </p:cNvSpPr>
          <p:nvPr>
            <p:ph type="body" idx="1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25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5600"/>
              <a:t>La seconda parte dell’analisi locale è dedicata alla risposta della seconda domanda di ricerca. Sono state studiate le proprietà di bilanciamento della rete. Lo studio delle triadi. come è stato dimostrato in letteratura, è molto importante perchè denota il livello di stress della rete.</a:t>
            </a:r>
            <a:endParaRPr sz="56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it" sz="5600"/>
              <a:t>La difficoltà principale riscontrata è la natura intrinseca della rete, in quanto la maggior parte delle funzioni del pacchetto R Signnet sono dedicate a reti indirette, la nostra invece è diretta in quanto si parla di transazioni.</a:t>
            </a:r>
            <a:endParaRPr sz="56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it" sz="5600"/>
              <a:t>Grazie alla funzione </a:t>
            </a:r>
            <a:r>
              <a:rPr lang="it" sz="5600">
                <a:solidFill>
                  <a:srgbClr val="333333"/>
                </a:solidFill>
                <a:highlight>
                  <a:srgbClr val="F5F5F5"/>
                </a:highlight>
              </a:rPr>
              <a:t>triad_census_signed() </a:t>
            </a:r>
            <a:r>
              <a:rPr lang="it" sz="5600">
                <a:solidFill>
                  <a:srgbClr val="333333"/>
                </a:solidFill>
              </a:rPr>
              <a:t> lo studio è riuscito in egual modo, l’indice di triadi bilanciate è risultato del 85%, indicando che la rete è fortemente bilanciata.</a:t>
            </a:r>
            <a:endParaRPr sz="5600">
              <a:solidFill>
                <a:srgbClr val="333333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3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Analisi Globale</a:t>
            </a:r>
            <a:endParaRPr/>
          </a:p>
        </p:txBody>
      </p:sp>
      <p:sp>
        <p:nvSpPr>
          <p:cNvPr id="336" name="Google Shape;336;p23"/>
          <p:cNvSpPr txBox="1">
            <a:spLocks noGrp="1"/>
          </p:cNvSpPr>
          <p:nvPr>
            <p:ph type="body" idx="1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Nella seconda parte dell’analisi sono state studiate le proprietà globali della rete Bitcoin OTC. </a:t>
            </a:r>
            <a:endParaRPr/>
          </a:p>
          <a:p>
            <a:pPr marL="0" lvl="0" indent="0" algn="just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it"/>
              <a:t>In particolare mi sono chiesto se la rete fosse scale free, per rispondere a questa domanda ho analizzato la distribuzione del grado per verificare se seguisse una power-law.</a:t>
            </a:r>
            <a:endParaRPr/>
          </a:p>
          <a:p>
            <a:pPr marL="0" lvl="0" indent="0" algn="just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just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1" name="Google Shape;341;p24" title="CCDF_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4913" y="248750"/>
            <a:ext cx="677418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6" name="Google Shape;346;p25" title="CCDF_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4913" y="152400"/>
            <a:ext cx="677418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1" name="Google Shape;351;p26" title="CCDF_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4913" y="152400"/>
            <a:ext cx="677418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27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Analisi Globale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766" b="0"/>
              <a:t>Parte 2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7" name="Google Shape;357;p27"/>
          <p:cNvSpPr txBox="1">
            <a:spLocks noGrp="1"/>
          </p:cNvSpPr>
          <p:nvPr>
            <p:ph type="body" idx="1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L’ultima parte dell'analisi è stata dedicata allo studio della resilienza della rete. L’obiettivo era confermare la previsione secondo cui la rete non seguisse il modello random bensì quello dell’attaccamento preferenziale.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it"/>
              <a:t>Per dimostrare la tesi è stato effettuato uno studio tramite nel quale venivano rimossi i nodi tramite diverse strategie.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2" name="Google Shape;362;p28" title="Percolazion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4913" y="152400"/>
            <a:ext cx="677418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29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Conclusioni</a:t>
            </a:r>
            <a:endParaRPr/>
          </a:p>
        </p:txBody>
      </p:sp>
      <p:sp>
        <p:nvSpPr>
          <p:cNvPr id="368" name="Google Shape;368;p29"/>
          <p:cNvSpPr txBox="1">
            <a:spLocks noGrp="1"/>
          </p:cNvSpPr>
          <p:nvPr>
            <p:ph type="body" idx="1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it">
                <a:solidFill>
                  <a:srgbClr val="000000"/>
                </a:solidFill>
              </a:rPr>
              <a:t>L'analisi della rete evidenzia una chiara gerarchia della fiducia, identificando la coesistenza di leader strutturali e nodi controversi. Il sistema appare globalmente bilanciato, pur segnalando la presenza di utenti potenzialmente malevoli o ancora in fase di valutazione. La topologia scale-free riscontrata conferma il modello di crescita per attaccamento preferenziale, garantendo un'ottima resilienza verso i guasti casuali ma esponendo la rete ad un’alta vulnerabilità in caso di attacchi mirati ai suoi nodi centrali.</a:t>
            </a:r>
            <a:endParaRPr sz="15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657</Words>
  <Application>Microsoft Office PowerPoint</Application>
  <PresentationFormat>Presentazione su schermo (16:9)</PresentationFormat>
  <Paragraphs>35</Paragraphs>
  <Slides>16</Slides>
  <Notes>16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16</vt:i4>
      </vt:variant>
    </vt:vector>
  </HeadingPairs>
  <TitlesOfParts>
    <vt:vector size="20" baseType="lpstr">
      <vt:lpstr>Arial</vt:lpstr>
      <vt:lpstr>Maven Pro</vt:lpstr>
      <vt:lpstr>Nunito</vt:lpstr>
      <vt:lpstr>Momentum</vt:lpstr>
      <vt:lpstr>Bitcoin OTC</vt:lpstr>
      <vt:lpstr>Domande di ricerca</vt:lpstr>
      <vt:lpstr>Struttura della rete</vt:lpstr>
      <vt:lpstr>Analisi locale Parte 1</vt:lpstr>
      <vt:lpstr>Presentazione standard di PowerPoint</vt:lpstr>
      <vt:lpstr>Presentazione standard di PowerPoint</vt:lpstr>
      <vt:lpstr>Confronto misure di centralità</vt:lpstr>
      <vt:lpstr>Presentazione standard di PowerPoint</vt:lpstr>
      <vt:lpstr>Analisi locale Parte 2</vt:lpstr>
      <vt:lpstr>Analisi Globale</vt:lpstr>
      <vt:lpstr>Presentazione standard di PowerPoint</vt:lpstr>
      <vt:lpstr>Presentazione standard di PowerPoint</vt:lpstr>
      <vt:lpstr>Presentazione standard di PowerPoint</vt:lpstr>
      <vt:lpstr>Analisi Globale Parte 2 </vt:lpstr>
      <vt:lpstr>Presentazione standard di PowerPoint</vt:lpstr>
      <vt:lpstr>Conclusioni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Ombretta Lavia</dc:creator>
  <cp:lastModifiedBy>Fabio Zuliani</cp:lastModifiedBy>
  <cp:revision>1</cp:revision>
  <dcterms:modified xsi:type="dcterms:W3CDTF">2026-01-19T15:21:22Z</dcterms:modified>
</cp:coreProperties>
</file>